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548640" y="457200"/>
            <a:ext cx="1371600" cy="1371600"/>
          </a:xfrm>
          <a:prstGeom prst="roundRect">
            <a:avLst>
              <a:gd name="adj" fmla="val 10000"/>
            </a:avLst>
          </a:prstGeom>
          <a:solidFill>
            <a:srgbClr val="FFFFFF"/>
          </a:solidFill>
          <a:ln/>
        </p:spPr>
      </p:sp>
      <p:pic>
        <p:nvPicPr>
          <p:cNvPr id="3" name="Image 0" descr="nti_logo.jpg">    </p:cNvPr>
          <p:cNvPicPr>
            <a:picLocks noChangeAspect="1"/>
          </p:cNvPicPr>
          <p:nvPr/>
        </p:nvPicPr>
        <p:blipFill>
          <a:blip r:embed="rId1"/>
          <a:stretch>
            <a:fillRect/>
          </a:stretch>
        </p:blipFill>
        <p:spPr>
          <a:xfrm>
            <a:off x="658368" y="566928"/>
            <a:ext cx="1152144" cy="1152144"/>
          </a:xfrm>
          <a:prstGeom prst="rect">
            <a:avLst/>
          </a:prstGeom>
        </p:spPr>
      </p:pic>
      <p:sp>
        <p:nvSpPr>
          <p:cNvPr id="4" name="Text 1"/>
          <p:cNvSpPr txBox="1"/>
          <p:nvPr/>
        </p:nvSpPr>
        <p:spPr>
          <a:xfrm>
            <a:off x="731520" y="2286000"/>
            <a:ext cx="1069848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S26-B10-Adv Data A-G11-E</a:t>
            </a:r>
            <a:endParaRPr lang="en-US" sz="4000" dirty="0"/>
          </a:p>
        </p:txBody>
      </p:sp>
      <p:sp>
        <p:nvSpPr>
          <p:cNvPr id="5" name="Text 2"/>
          <p:cNvSpPr txBox="1"/>
          <p:nvPr/>
        </p:nvSpPr>
        <p:spPr>
          <a:xfrm>
            <a:off x="731520" y="3063240"/>
            <a:ext cx="10698480" cy="457200"/>
          </a:xfrm>
          <a:prstGeom prst="rect">
            <a:avLst/>
          </a:prstGeom>
          <a:noFill/>
          <a:ln/>
        </p:spPr>
        <p:txBody>
          <a:bodyPr wrap="square" lIns="0" tIns="0" rIns="0" bIns="0" rtlCol="0" anchor="ctr"/>
          <a:lstStyle/>
          <a:p>
            <a:pPr algn="ctr" indent="0" marL="0">
              <a:buNone/>
            </a:pPr>
            <a:r>
              <a:rPr lang="en-US" sz="2200" dirty="0">
                <a:solidFill>
                  <a:srgbClr val="CADCFC"/>
                </a:solidFill>
                <a:latin typeface="Calibri" pitchFamily="34" charset="0"/>
                <a:ea typeface="Calibri" pitchFamily="34" charset="-122"/>
                <a:cs typeface="Calibri" pitchFamily="34" charset="-120"/>
              </a:rPr>
              <a:t>Hotel Bookings Data Analysis Project</a:t>
            </a:r>
            <a:endParaRPr lang="en-US" sz="2200" dirty="0"/>
          </a:p>
        </p:txBody>
      </p:sp>
      <p:sp>
        <p:nvSpPr>
          <p:cNvPr id="6" name="Text 3"/>
          <p:cNvSpPr txBox="1"/>
          <p:nvPr/>
        </p:nvSpPr>
        <p:spPr>
          <a:xfrm>
            <a:off x="731520" y="3474720"/>
            <a:ext cx="10698480" cy="365760"/>
          </a:xfrm>
          <a:prstGeom prst="rect">
            <a:avLst/>
          </a:prstGeom>
          <a:noFill/>
          <a:ln/>
        </p:spPr>
        <p:txBody>
          <a:bodyPr wrap="square" lIns="0" tIns="0" rIns="0" bIns="0"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Project Documentation</a:t>
            </a:r>
            <a:endParaRPr lang="en-US" sz="1600" dirty="0"/>
          </a:p>
        </p:txBody>
      </p:sp>
      <p:sp>
        <p:nvSpPr>
          <p:cNvPr id="7" name="Shape 4"/>
          <p:cNvSpPr/>
          <p:nvPr/>
        </p:nvSpPr>
        <p:spPr>
          <a:xfrm>
            <a:off x="2194560" y="4160520"/>
            <a:ext cx="7772400" cy="2148840"/>
          </a:xfrm>
          <a:prstGeom prst="roundRect">
            <a:avLst>
              <a:gd name="adj" fmla="val 5106"/>
            </a:avLst>
          </a:prstGeom>
          <a:solidFill>
            <a:srgbClr val="FFFFFF"/>
          </a:solidFill>
          <a:ln/>
          <a:effectLst>
            <a:outerShdw sx="100000" sy="100000" kx="0" ky="0" algn="bl" rotWithShape="0" blurRad="101600" dist="38100" dir="5400000">
              <a:srgbClr val="000000">
                <a:alpha val="35000"/>
              </a:srgbClr>
            </a:outerShdw>
          </a:effectLst>
        </p:spPr>
      </p:sp>
      <p:sp>
        <p:nvSpPr>
          <p:cNvPr id="8" name="Text 5"/>
          <p:cNvSpPr txBox="1"/>
          <p:nvPr/>
        </p:nvSpPr>
        <p:spPr>
          <a:xfrm>
            <a:off x="2377440" y="4279392"/>
            <a:ext cx="7406640" cy="320040"/>
          </a:xfrm>
          <a:prstGeom prst="rect">
            <a:avLst/>
          </a:prstGeom>
          <a:noFill/>
          <a:ln/>
        </p:spPr>
        <p:txBody>
          <a:bodyPr wrap="square" lIns="0" tIns="0" rIns="0" bIns="0" rtlCol="0" anchor="ctr"/>
          <a:lstStyle/>
          <a:p>
            <a:pPr algn="l" indent="0" marL="0">
              <a:buNone/>
            </a:pPr>
            <a:r>
              <a:rPr lang="en-US" sz="1600" b="1" dirty="0">
                <a:solidFill>
                  <a:srgbClr val="1F3864"/>
                </a:solidFill>
                <a:latin typeface="Calibri" pitchFamily="34" charset="0"/>
                <a:ea typeface="Calibri" pitchFamily="34" charset="-122"/>
                <a:cs typeface="Calibri" pitchFamily="34" charset="-120"/>
              </a:rPr>
              <a:t>Team 4</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377440" y="4617720"/>
          <a:ext cx="7406640" cy="1600200"/>
        </p:xfrm>
        <a:graphic>
          <a:graphicData uri="http://schemas.openxmlformats.org/drawingml/2006/table">
            <a:tbl>
              <a:tblPr/>
              <a:tblGrid>
                <a:gridCol w="4592117"/>
                <a:gridCol w="2814523"/>
              </a:tblGrid>
              <a:tr h="266700">
                <a:tc>
                  <a:txBody>
                    <a:bodyPr/>
                    <a:lstStyle/>
                    <a:p>
                      <a:pPr indent="0" marL="0">
                        <a:buNone/>
                      </a:pPr>
                      <a:r>
                        <a:rPr lang="en-US" sz="1200" b="1" dirty="0">
                          <a:solidFill>
                            <a:srgbClr val="FFFFFF"/>
                          </a:solidFill>
                        </a:rPr>
                        <a:t>Name</a:t>
                      </a:r>
                      <a:endParaRPr lang="en-US" sz="12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rPr>
                        <a:t>Task</a:t>
                      </a:r>
                      <a:endParaRPr lang="en-US" sz="12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3864"/>
                    </a:solidFill>
                  </a:tcPr>
                </a:tc>
              </a:tr>
              <a:tr h="266700">
                <a:tc>
                  <a:txBody>
                    <a:bodyPr/>
                    <a:lstStyle/>
                    <a:p>
                      <a:pPr indent="0" marL="0">
                        <a:buNone/>
                      </a:pPr>
                      <a:r>
                        <a:rPr lang="en-US" sz="1100" dirty="0">
                          <a:solidFill>
                            <a:srgbClr val="1A1A1A"/>
                          </a:solidFill>
                        </a:rPr>
                        <a:t>John Wafik William Tawfik</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100" dirty="0">
                          <a:solidFill>
                            <a:srgbClr val="1A1A1A"/>
                          </a:solidFill>
                        </a:rPr>
                        <a:t>Machine Learning</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6700">
                <a:tc>
                  <a:txBody>
                    <a:bodyPr/>
                    <a:lstStyle/>
                    <a:p>
                      <a:pPr indent="0" marL="0">
                        <a:buNone/>
                      </a:pPr>
                      <a:r>
                        <a:rPr lang="en-US" sz="1100" dirty="0">
                          <a:solidFill>
                            <a:srgbClr val="1A1A1A"/>
                          </a:solidFill>
                        </a:rPr>
                        <a:t>Mohamed Tarek Mohamed</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100" dirty="0">
                          <a:solidFill>
                            <a:srgbClr val="1A1A1A"/>
                          </a:solidFill>
                        </a:rPr>
                        <a:t>Tableau</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6700">
                <a:tc>
                  <a:txBody>
                    <a:bodyPr/>
                    <a:lstStyle/>
                    <a:p>
                      <a:pPr indent="0" marL="0">
                        <a:buNone/>
                      </a:pPr>
                      <a:r>
                        <a:rPr lang="en-US" sz="1100" dirty="0">
                          <a:solidFill>
                            <a:srgbClr val="1A1A1A"/>
                          </a:solidFill>
                        </a:rPr>
                        <a:t>Yousef Adel Abd ElShafy Ahmed</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100" dirty="0">
                          <a:solidFill>
                            <a:srgbClr val="1A1A1A"/>
                          </a:solidFill>
                        </a:rPr>
                        <a:t>Python</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6700">
                <a:tc>
                  <a:txBody>
                    <a:bodyPr/>
                    <a:lstStyle/>
                    <a:p>
                      <a:pPr indent="0" marL="0">
                        <a:buNone/>
                      </a:pPr>
                      <a:r>
                        <a:rPr lang="en-US" sz="1100" dirty="0">
                          <a:solidFill>
                            <a:srgbClr val="1A1A1A"/>
                          </a:solidFill>
                        </a:rPr>
                        <a:t>Moaz Ebrahim Mohammed Gamal</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100" dirty="0">
                          <a:solidFill>
                            <a:srgbClr val="1A1A1A"/>
                          </a:solidFill>
                        </a:rPr>
                        <a:t>Excel</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6700">
                <a:tc>
                  <a:txBody>
                    <a:bodyPr/>
                    <a:lstStyle/>
                    <a:p>
                      <a:pPr indent="0" marL="0">
                        <a:buNone/>
                      </a:pPr>
                      <a:r>
                        <a:rPr lang="en-US" sz="1100" dirty="0">
                          <a:solidFill>
                            <a:srgbClr val="1A1A1A"/>
                          </a:solidFill>
                        </a:rPr>
                        <a:t>Asmaa Mohamed Mahmoud</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100" dirty="0">
                          <a:solidFill>
                            <a:srgbClr val="1A1A1A"/>
                          </a:solidFill>
                        </a:rPr>
                        <a:t>Power BI</a:t>
                      </a:r>
                      <a:endParaRPr lang="en-US" sz="1100" dirty="0"/>
                    </a:p>
                  </a:txBody>
                  <a:tcPr marL="91440" marR="91440" marT="45720" marB="4572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1F3864"/>
                </a:solidFill>
                <a:latin typeface="Cambria" pitchFamily="34" charset="0"/>
                <a:ea typeface="Cambria" pitchFamily="34" charset="-122"/>
                <a:cs typeface="Cambria" pitchFamily="34" charset="-120"/>
              </a:rPr>
              <a:t>About the Data</a:t>
            </a:r>
            <a:endParaRPr lang="en-US" sz="3200" dirty="0"/>
          </a:p>
        </p:txBody>
      </p:sp>
      <p:sp>
        <p:nvSpPr>
          <p:cNvPr id="3" name="Text 1"/>
          <p:cNvSpPr txBox="1"/>
          <p:nvPr/>
        </p:nvSpPr>
        <p:spPr>
          <a:xfrm>
            <a:off x="548640" y="1234440"/>
            <a:ext cx="6126480" cy="1005840"/>
          </a:xfrm>
          <a:prstGeom prst="rect">
            <a:avLst/>
          </a:prstGeom>
          <a:noFill/>
          <a:ln/>
        </p:spPr>
        <p:txBody>
          <a:bodyPr wrap="square" lIns="0" tIns="0" rIns="0" bIns="0" rtlCol="0" anchor="ctr"/>
          <a:lstStyle/>
          <a:p>
            <a:pPr algn="l" indent="0" marL="0">
              <a:lnSpc>
                <a:spcPct val="115000"/>
              </a:lnSpc>
              <a:buNone/>
            </a:pPr>
            <a:r>
              <a:rPr lang="en-US" sz="1500" b="1" dirty="0">
                <a:solidFill>
                  <a:srgbClr val="1F3864"/>
                </a:solidFill>
                <a:latin typeface="Calibri" pitchFamily="34" charset="0"/>
                <a:ea typeface="Calibri" pitchFamily="34" charset="-122"/>
                <a:cs typeface="Calibri" pitchFamily="34" charset="-120"/>
              </a:rPr>
              <a:t>Hotel Booking Demand dataset </a:t>
            </a:r>
            <a:pPr algn="l" indent="0" marL="0">
              <a:lnSpc>
                <a:spcPct val="115000"/>
              </a:lnSpc>
              <a:buNone/>
            </a:pPr>
            <a:r>
              <a:rPr lang="en-US" sz="1500" dirty="0">
                <a:solidFill>
                  <a:srgbClr val="1A1A1A"/>
                </a:solidFill>
                <a:latin typeface="Calibri" pitchFamily="34" charset="0"/>
                <a:ea typeface="Calibri" pitchFamily="34" charset="-122"/>
                <a:cs typeface="Calibri" pitchFamily="34" charset="-120"/>
              </a:rPr>
              <a:t>— real booking records from a Resort Hotel and a City Hotel, covering arrivals from 2015 to 2017.</a:t>
            </a:r>
            <a:endParaRPr lang="en-US" sz="1500" dirty="0"/>
          </a:p>
        </p:txBody>
      </p:sp>
      <p:sp>
        <p:nvSpPr>
          <p:cNvPr id="4" name="Text 2"/>
          <p:cNvSpPr txBox="1"/>
          <p:nvPr/>
        </p:nvSpPr>
        <p:spPr>
          <a:xfrm>
            <a:off x="548640" y="2286000"/>
            <a:ext cx="6126480" cy="1371600"/>
          </a:xfrm>
          <a:prstGeom prst="rect">
            <a:avLst/>
          </a:prstGeom>
          <a:noFill/>
          <a:ln/>
        </p:spPr>
        <p:txBody>
          <a:bodyPr wrap="square" lIns="0" tIns="0" rIns="0" bIns="0" rtlCol="0" anchor="ctr"/>
          <a:lstStyle/>
          <a:p>
            <a:pPr algn="l" indent="0" marL="0">
              <a:lnSpc>
                <a:spcPct val="120000"/>
              </a:lnSpc>
              <a:buNone/>
            </a:pPr>
            <a:r>
              <a:rPr lang="en-US" sz="1400" dirty="0">
                <a:solidFill>
                  <a:srgbClr val="5A5A5A"/>
                </a:solidFill>
                <a:latin typeface="Calibri" pitchFamily="34" charset="0"/>
                <a:ea typeface="Calibri" pitchFamily="34" charset="-122"/>
                <a:cs typeface="Calibri" pitchFamily="34" charset="-120"/>
              </a:rPr>
              <a:t>Each row is one booking. Columns cover the stay itself (dates, nights, guests), how it was booked (channel, agent, lead time), pricing (ADR), and the outcome (canceled, checked out, or no-show).</a:t>
            </a:r>
            <a:endParaRPr lang="en-US" sz="1400" dirty="0"/>
          </a:p>
        </p:txBody>
      </p:sp>
      <p:sp>
        <p:nvSpPr>
          <p:cNvPr id="5" name="Shape 3"/>
          <p:cNvSpPr/>
          <p:nvPr/>
        </p:nvSpPr>
        <p:spPr>
          <a:xfrm>
            <a:off x="7178040" y="1234440"/>
            <a:ext cx="2514600" cy="1051560"/>
          </a:xfrm>
          <a:prstGeom prst="roundRect">
            <a:avLst>
              <a:gd name="adj" fmla="val 8696"/>
            </a:avLst>
          </a:prstGeom>
          <a:solidFill>
            <a:srgbClr val="F4F6FB"/>
          </a:solidFill>
          <a:ln/>
        </p:spPr>
      </p:sp>
      <p:sp>
        <p:nvSpPr>
          <p:cNvPr id="6" name="Text 4"/>
          <p:cNvSpPr txBox="1"/>
          <p:nvPr/>
        </p:nvSpPr>
        <p:spPr>
          <a:xfrm>
            <a:off x="7269480" y="1344168"/>
            <a:ext cx="2331720" cy="502920"/>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119,390</a:t>
            </a:r>
            <a:endParaRPr lang="en-US" sz="2200" dirty="0"/>
          </a:p>
        </p:txBody>
      </p:sp>
      <p:sp>
        <p:nvSpPr>
          <p:cNvPr id="7" name="Text 5"/>
          <p:cNvSpPr txBox="1"/>
          <p:nvPr/>
        </p:nvSpPr>
        <p:spPr>
          <a:xfrm>
            <a:off x="7269480" y="1856232"/>
            <a:ext cx="2331720" cy="365760"/>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Raw Rows</a:t>
            </a:r>
            <a:endParaRPr lang="en-US" sz="1100" dirty="0"/>
          </a:p>
        </p:txBody>
      </p:sp>
      <p:sp>
        <p:nvSpPr>
          <p:cNvPr id="8" name="Shape 6"/>
          <p:cNvSpPr/>
          <p:nvPr/>
        </p:nvSpPr>
        <p:spPr>
          <a:xfrm>
            <a:off x="9966960" y="1234440"/>
            <a:ext cx="2514600" cy="1051560"/>
          </a:xfrm>
          <a:prstGeom prst="roundRect">
            <a:avLst>
              <a:gd name="adj" fmla="val 8696"/>
            </a:avLst>
          </a:prstGeom>
          <a:solidFill>
            <a:srgbClr val="F4F6FB"/>
          </a:solidFill>
          <a:ln/>
        </p:spPr>
      </p:sp>
      <p:sp>
        <p:nvSpPr>
          <p:cNvPr id="9" name="Text 7"/>
          <p:cNvSpPr txBox="1"/>
          <p:nvPr/>
        </p:nvSpPr>
        <p:spPr>
          <a:xfrm>
            <a:off x="10058400" y="1344168"/>
            <a:ext cx="2331720" cy="502920"/>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32</a:t>
            </a:r>
            <a:endParaRPr lang="en-US" sz="2200" dirty="0"/>
          </a:p>
        </p:txBody>
      </p:sp>
      <p:sp>
        <p:nvSpPr>
          <p:cNvPr id="10" name="Text 8"/>
          <p:cNvSpPr txBox="1"/>
          <p:nvPr/>
        </p:nvSpPr>
        <p:spPr>
          <a:xfrm>
            <a:off x="10058400" y="1856232"/>
            <a:ext cx="2331720" cy="365760"/>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Original Columns</a:t>
            </a:r>
            <a:endParaRPr lang="en-US" sz="1100" dirty="0"/>
          </a:p>
        </p:txBody>
      </p:sp>
      <p:sp>
        <p:nvSpPr>
          <p:cNvPr id="11" name="Shape 9"/>
          <p:cNvSpPr/>
          <p:nvPr/>
        </p:nvSpPr>
        <p:spPr>
          <a:xfrm>
            <a:off x="7178040" y="2514600"/>
            <a:ext cx="2514600" cy="1051560"/>
          </a:xfrm>
          <a:prstGeom prst="roundRect">
            <a:avLst>
              <a:gd name="adj" fmla="val 8696"/>
            </a:avLst>
          </a:prstGeom>
          <a:solidFill>
            <a:srgbClr val="F4F6FB"/>
          </a:solidFill>
          <a:ln/>
        </p:spPr>
      </p:sp>
      <p:sp>
        <p:nvSpPr>
          <p:cNvPr id="12" name="Text 10"/>
          <p:cNvSpPr txBox="1"/>
          <p:nvPr/>
        </p:nvSpPr>
        <p:spPr>
          <a:xfrm>
            <a:off x="7269480" y="2624328"/>
            <a:ext cx="2331720" cy="502920"/>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87,396</a:t>
            </a:r>
            <a:endParaRPr lang="en-US" sz="2200" dirty="0"/>
          </a:p>
        </p:txBody>
      </p:sp>
      <p:sp>
        <p:nvSpPr>
          <p:cNvPr id="13" name="Text 11"/>
          <p:cNvSpPr txBox="1"/>
          <p:nvPr/>
        </p:nvSpPr>
        <p:spPr>
          <a:xfrm>
            <a:off x="7269480" y="3136392"/>
            <a:ext cx="2331720" cy="365760"/>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Rows After Removing Duplicates</a:t>
            </a:r>
            <a:endParaRPr lang="en-US" sz="1100" dirty="0"/>
          </a:p>
        </p:txBody>
      </p:sp>
      <p:sp>
        <p:nvSpPr>
          <p:cNvPr id="14" name="Shape 12"/>
          <p:cNvSpPr/>
          <p:nvPr/>
        </p:nvSpPr>
        <p:spPr>
          <a:xfrm>
            <a:off x="9966960" y="2514600"/>
            <a:ext cx="2514600" cy="1051560"/>
          </a:xfrm>
          <a:prstGeom prst="roundRect">
            <a:avLst>
              <a:gd name="adj" fmla="val 8696"/>
            </a:avLst>
          </a:prstGeom>
          <a:solidFill>
            <a:srgbClr val="F4F6FB"/>
          </a:solidFill>
          <a:ln/>
        </p:spPr>
      </p:sp>
      <p:sp>
        <p:nvSpPr>
          <p:cNvPr id="15" name="Text 13"/>
          <p:cNvSpPr txBox="1"/>
          <p:nvPr/>
        </p:nvSpPr>
        <p:spPr>
          <a:xfrm>
            <a:off x="10058400" y="2624328"/>
            <a:ext cx="2331720" cy="502920"/>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2015–2017</a:t>
            </a:r>
            <a:endParaRPr lang="en-US" sz="2200" dirty="0"/>
          </a:p>
        </p:txBody>
      </p:sp>
      <p:sp>
        <p:nvSpPr>
          <p:cNvPr id="16" name="Text 14"/>
          <p:cNvSpPr txBox="1"/>
          <p:nvPr/>
        </p:nvSpPr>
        <p:spPr>
          <a:xfrm>
            <a:off x="10058400" y="3136392"/>
            <a:ext cx="2331720" cy="365760"/>
          </a:xfrm>
          <a:prstGeom prst="rect">
            <a:avLst/>
          </a:prstGeom>
          <a:noFill/>
          <a:ln/>
        </p:spPr>
        <p:txBody>
          <a:bodyPr wrap="square" lIns="0" tIns="0" rIns="0" bIns="0" rtlCol="0" anchor="ctr"/>
          <a:lstStyle/>
          <a:p>
            <a:pPr algn="ctr" indent="0" marL="0">
              <a:buNone/>
            </a:pPr>
            <a:r>
              <a:rPr lang="en-US" sz="1100" dirty="0">
                <a:solidFill>
                  <a:srgbClr val="5A5A5A"/>
                </a:solidFill>
                <a:latin typeface="Calibri" pitchFamily="34" charset="0"/>
                <a:ea typeface="Calibri" pitchFamily="34" charset="-122"/>
                <a:cs typeface="Calibri" pitchFamily="34" charset="-120"/>
              </a:rPr>
              <a:t>Years Covered</a:t>
            </a:r>
            <a:endParaRPr lang="en-US" sz="1100" dirty="0"/>
          </a:p>
        </p:txBody>
      </p:sp>
      <p:sp>
        <p:nvSpPr>
          <p:cNvPr id="17" name="Shape 15"/>
          <p:cNvSpPr/>
          <p:nvPr/>
        </p:nvSpPr>
        <p:spPr>
          <a:xfrm>
            <a:off x="548640" y="3977640"/>
            <a:ext cx="11064240" cy="2331720"/>
          </a:xfrm>
          <a:prstGeom prst="roundRect">
            <a:avLst>
              <a:gd name="adj" fmla="val 3922"/>
            </a:avLst>
          </a:prstGeom>
          <a:solidFill>
            <a:srgbClr val="F4F6FB"/>
          </a:solidFill>
          <a:ln/>
        </p:spPr>
      </p:sp>
      <p:sp>
        <p:nvSpPr>
          <p:cNvPr id="18" name="Text 16"/>
          <p:cNvSpPr txBox="1"/>
          <p:nvPr/>
        </p:nvSpPr>
        <p:spPr>
          <a:xfrm>
            <a:off x="822960" y="4160520"/>
            <a:ext cx="1051560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What the columns cover</a:t>
            </a:r>
            <a:endParaRPr lang="en-US" sz="1500" dirty="0"/>
          </a:p>
        </p:txBody>
      </p:sp>
      <p:sp>
        <p:nvSpPr>
          <p:cNvPr id="19" name="Text 17"/>
          <p:cNvSpPr txBox="1"/>
          <p:nvPr/>
        </p:nvSpPr>
        <p:spPr>
          <a:xfrm>
            <a:off x="822960" y="4617720"/>
            <a:ext cx="5257800" cy="777240"/>
          </a:xfrm>
          <a:prstGeom prst="rect">
            <a:avLst/>
          </a:prstGeom>
          <a:noFill/>
          <a:ln/>
        </p:spPr>
        <p:txBody>
          <a:bodyPr wrap="square" lIns="0" tIns="0" rIns="0" bIns="0" rtlCol="0" anchor="t"/>
          <a:lstStyle/>
          <a:p>
            <a:pPr indent="0" marL="0">
              <a:lnSpc>
                <a:spcPct val="110000"/>
              </a:lnSpc>
              <a:buNone/>
            </a:pPr>
            <a:r>
              <a:rPr lang="en-US" sz="1300" b="1" dirty="0">
                <a:solidFill>
                  <a:srgbClr val="1F3864"/>
                </a:solidFill>
                <a:latin typeface="Calibri" pitchFamily="34" charset="0"/>
                <a:ea typeface="Calibri" pitchFamily="34" charset="-122"/>
                <a:cs typeface="Calibri" pitchFamily="34" charset="-120"/>
              </a:rPr>
              <a:t>Stay Details
</a:t>
            </a:r>
            <a:pPr indent="0" marL="0">
              <a:lnSpc>
                <a:spcPct val="110000"/>
              </a:lnSpc>
              <a:buNone/>
            </a:pPr>
            <a:r>
              <a:rPr lang="en-US" sz="1150" dirty="0">
                <a:solidFill>
                  <a:srgbClr val="5A5A5A"/>
                </a:solidFill>
                <a:latin typeface="Calibri" pitchFamily="34" charset="0"/>
                <a:ea typeface="Calibri" pitchFamily="34" charset="-122"/>
                <a:cs typeface="Calibri" pitchFamily="34" charset="-120"/>
              </a:rPr>
              <a:t>hotel, dates, nights, adults / children / babies, meal</a:t>
            </a:r>
            <a:endParaRPr lang="en-US" sz="1300" dirty="0"/>
          </a:p>
        </p:txBody>
      </p:sp>
      <p:sp>
        <p:nvSpPr>
          <p:cNvPr id="20" name="Text 18"/>
          <p:cNvSpPr txBox="1"/>
          <p:nvPr/>
        </p:nvSpPr>
        <p:spPr>
          <a:xfrm>
            <a:off x="6355080" y="4617720"/>
            <a:ext cx="5257800" cy="777240"/>
          </a:xfrm>
          <a:prstGeom prst="rect">
            <a:avLst/>
          </a:prstGeom>
          <a:noFill/>
          <a:ln/>
        </p:spPr>
        <p:txBody>
          <a:bodyPr wrap="square" lIns="0" tIns="0" rIns="0" bIns="0" rtlCol="0" anchor="t"/>
          <a:lstStyle/>
          <a:p>
            <a:pPr indent="0" marL="0">
              <a:lnSpc>
                <a:spcPct val="110000"/>
              </a:lnSpc>
              <a:buNone/>
            </a:pPr>
            <a:r>
              <a:rPr lang="en-US" sz="1300" b="1" dirty="0">
                <a:solidFill>
                  <a:srgbClr val="1F3864"/>
                </a:solidFill>
                <a:latin typeface="Calibri" pitchFamily="34" charset="0"/>
                <a:ea typeface="Calibri" pitchFamily="34" charset="-122"/>
                <a:cs typeface="Calibri" pitchFamily="34" charset="-120"/>
              </a:rPr>
              <a:t>Booking Source
</a:t>
            </a:r>
            <a:pPr indent="0" marL="0">
              <a:lnSpc>
                <a:spcPct val="110000"/>
              </a:lnSpc>
              <a:buNone/>
            </a:pPr>
            <a:r>
              <a:rPr lang="en-US" sz="1150" dirty="0">
                <a:solidFill>
                  <a:srgbClr val="5A5A5A"/>
                </a:solidFill>
                <a:latin typeface="Calibri" pitchFamily="34" charset="0"/>
                <a:ea typeface="Calibri" pitchFamily="34" charset="-122"/>
                <a:cs typeface="Calibri" pitchFamily="34" charset="-120"/>
              </a:rPr>
              <a:t>market segment, distribution channel, agent, company</a:t>
            </a:r>
            <a:endParaRPr lang="en-US" sz="1300" dirty="0"/>
          </a:p>
        </p:txBody>
      </p:sp>
      <p:sp>
        <p:nvSpPr>
          <p:cNvPr id="21" name="Text 19"/>
          <p:cNvSpPr txBox="1"/>
          <p:nvPr/>
        </p:nvSpPr>
        <p:spPr>
          <a:xfrm>
            <a:off x="822960" y="5532120"/>
            <a:ext cx="5257800" cy="777240"/>
          </a:xfrm>
          <a:prstGeom prst="rect">
            <a:avLst/>
          </a:prstGeom>
          <a:noFill/>
          <a:ln/>
        </p:spPr>
        <p:txBody>
          <a:bodyPr wrap="square" lIns="0" tIns="0" rIns="0" bIns="0" rtlCol="0" anchor="t"/>
          <a:lstStyle/>
          <a:p>
            <a:pPr indent="0" marL="0">
              <a:lnSpc>
                <a:spcPct val="110000"/>
              </a:lnSpc>
              <a:buNone/>
            </a:pPr>
            <a:r>
              <a:rPr lang="en-US" sz="1300" b="1" dirty="0">
                <a:solidFill>
                  <a:srgbClr val="1F3864"/>
                </a:solidFill>
                <a:latin typeface="Calibri" pitchFamily="34" charset="0"/>
                <a:ea typeface="Calibri" pitchFamily="34" charset="-122"/>
                <a:cs typeface="Calibri" pitchFamily="34" charset="-120"/>
              </a:rPr>
              <a:t>Pricing &amp; Status
</a:t>
            </a:r>
            <a:pPr indent="0" marL="0">
              <a:lnSpc>
                <a:spcPct val="110000"/>
              </a:lnSpc>
              <a:buNone/>
            </a:pPr>
            <a:r>
              <a:rPr lang="en-US" sz="1150" dirty="0">
                <a:solidFill>
                  <a:srgbClr val="5A5A5A"/>
                </a:solidFill>
                <a:latin typeface="Calibri" pitchFamily="34" charset="0"/>
                <a:ea typeface="Calibri" pitchFamily="34" charset="-122"/>
                <a:cs typeface="Calibri" pitchFamily="34" charset="-120"/>
              </a:rPr>
              <a:t>ADR, deposit type, is_canceled, reservation status</a:t>
            </a:r>
            <a:endParaRPr lang="en-US" sz="1300" dirty="0"/>
          </a:p>
        </p:txBody>
      </p:sp>
      <p:sp>
        <p:nvSpPr>
          <p:cNvPr id="22" name="Text 20"/>
          <p:cNvSpPr txBox="1"/>
          <p:nvPr/>
        </p:nvSpPr>
        <p:spPr>
          <a:xfrm>
            <a:off x="6355080" y="5532120"/>
            <a:ext cx="5257800" cy="777240"/>
          </a:xfrm>
          <a:prstGeom prst="rect">
            <a:avLst/>
          </a:prstGeom>
          <a:noFill/>
          <a:ln/>
        </p:spPr>
        <p:txBody>
          <a:bodyPr wrap="square" lIns="0" tIns="0" rIns="0" bIns="0" rtlCol="0" anchor="t"/>
          <a:lstStyle/>
          <a:p>
            <a:pPr indent="0" marL="0">
              <a:lnSpc>
                <a:spcPct val="110000"/>
              </a:lnSpc>
              <a:buNone/>
            </a:pPr>
            <a:r>
              <a:rPr lang="en-US" sz="1300" b="1" dirty="0">
                <a:solidFill>
                  <a:srgbClr val="1F3864"/>
                </a:solidFill>
                <a:latin typeface="Calibri" pitchFamily="34" charset="0"/>
                <a:ea typeface="Calibri" pitchFamily="34" charset="-122"/>
                <a:cs typeface="Calibri" pitchFamily="34" charset="-120"/>
              </a:rPr>
              <a:t>Guest History
</a:t>
            </a:r>
            <a:pPr indent="0" marL="0">
              <a:lnSpc>
                <a:spcPct val="110000"/>
              </a:lnSpc>
              <a:buNone/>
            </a:pPr>
            <a:r>
              <a:rPr lang="en-US" sz="1150" dirty="0">
                <a:solidFill>
                  <a:srgbClr val="5A5A5A"/>
                </a:solidFill>
                <a:latin typeface="Calibri" pitchFamily="34" charset="0"/>
                <a:ea typeface="Calibri" pitchFamily="34" charset="-122"/>
                <a:cs typeface="Calibri" pitchFamily="34" charset="-120"/>
              </a:rPr>
              <a:t>repeat guest, previous cancellations, special requests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Python Work (Yousef Adel Abd ElShafy Ahmed)</a:t>
            </a:r>
            <a:endParaRPr lang="en-US" sz="26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Data cleaning, transformation, and the full chart set behind every dashboard page</a:t>
            </a:r>
            <a:endParaRPr lang="en-US" sz="1400" dirty="0"/>
          </a:p>
        </p:txBody>
      </p:sp>
      <p:sp>
        <p:nvSpPr>
          <p:cNvPr id="4" name="Shape 2"/>
          <p:cNvSpPr/>
          <p:nvPr/>
        </p:nvSpPr>
        <p:spPr>
          <a:xfrm>
            <a:off x="548640" y="1554480"/>
            <a:ext cx="3505200" cy="4663440"/>
          </a:xfrm>
          <a:prstGeom prst="roundRect">
            <a:avLst>
              <a:gd name="adj" fmla="val 2609"/>
            </a:avLst>
          </a:prstGeom>
          <a:solidFill>
            <a:srgbClr val="F4F6FB"/>
          </a:solidFill>
          <a:ln/>
        </p:spPr>
      </p:sp>
      <p:sp>
        <p:nvSpPr>
          <p:cNvPr id="5" name="Text 3"/>
          <p:cNvSpPr txBox="1"/>
          <p:nvPr/>
        </p:nvSpPr>
        <p:spPr>
          <a:xfrm>
            <a:off x="731520" y="1737360"/>
            <a:ext cx="313944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Cleaning</a:t>
            </a:r>
            <a:endParaRPr lang="en-US" sz="1600" dirty="0"/>
          </a:p>
        </p:txBody>
      </p:sp>
      <p:sp>
        <p:nvSpPr>
          <p:cNvPr id="6" name="Text 4"/>
          <p:cNvSpPr txBox="1"/>
          <p:nvPr/>
        </p:nvSpPr>
        <p:spPr>
          <a:xfrm>
            <a:off x="731520" y="2194560"/>
            <a:ext cx="3139440" cy="38404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Removed duplicate rows</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Standardized missing-value markers</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Dropped rows with missing children / country (negligible %)</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Filled agent &amp; company nulls with 0 — meaning “none involved,” not unknown</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Removed zero-night, non-canceled bookings (invalid data)</a:t>
            </a:r>
            <a:endParaRPr lang="en-US" sz="1150" dirty="0"/>
          </a:p>
        </p:txBody>
      </p:sp>
      <p:sp>
        <p:nvSpPr>
          <p:cNvPr id="7" name="Shape 5"/>
          <p:cNvSpPr/>
          <p:nvPr/>
        </p:nvSpPr>
        <p:spPr>
          <a:xfrm>
            <a:off x="4328160" y="1554480"/>
            <a:ext cx="3505200" cy="4663440"/>
          </a:xfrm>
          <a:prstGeom prst="roundRect">
            <a:avLst>
              <a:gd name="adj" fmla="val 2609"/>
            </a:avLst>
          </a:prstGeom>
          <a:solidFill>
            <a:srgbClr val="F4F6FB"/>
          </a:solidFill>
          <a:ln/>
        </p:spPr>
      </p:sp>
      <p:sp>
        <p:nvSpPr>
          <p:cNvPr id="8" name="Text 6"/>
          <p:cNvSpPr txBox="1"/>
          <p:nvPr/>
        </p:nvSpPr>
        <p:spPr>
          <a:xfrm>
            <a:off x="4511040" y="1737360"/>
            <a:ext cx="313944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Transformation</a:t>
            </a:r>
            <a:endParaRPr lang="en-US" sz="1600" dirty="0"/>
          </a:p>
        </p:txBody>
      </p:sp>
      <p:sp>
        <p:nvSpPr>
          <p:cNvPr id="9" name="Text 7"/>
          <p:cNvSpPr txBox="1"/>
          <p:nvPr/>
        </p:nvSpPr>
        <p:spPr>
          <a:xfrm>
            <a:off x="4511040" y="2194560"/>
            <a:ext cx="3139440" cy="38404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Built a unified arrival date field</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Added month-number column for correct calendar sorting</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Created has_agent / has_company flags</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Decoded meal, market segment &amp; channel codes into readable labels</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Merged ISO country codes → full country names</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Flagged reserved vs. assigned room mismatches</a:t>
            </a:r>
            <a:endParaRPr lang="en-US" sz="1150" dirty="0"/>
          </a:p>
        </p:txBody>
      </p:sp>
      <p:sp>
        <p:nvSpPr>
          <p:cNvPr id="10" name="Shape 8"/>
          <p:cNvSpPr/>
          <p:nvPr/>
        </p:nvSpPr>
        <p:spPr>
          <a:xfrm>
            <a:off x="8107680" y="1554480"/>
            <a:ext cx="3505200" cy="4663440"/>
          </a:xfrm>
          <a:prstGeom prst="roundRect">
            <a:avLst>
              <a:gd name="adj" fmla="val 2609"/>
            </a:avLst>
          </a:prstGeom>
          <a:solidFill>
            <a:srgbClr val="F4F6FB"/>
          </a:solidFill>
          <a:ln/>
        </p:spPr>
      </p:sp>
      <p:sp>
        <p:nvSpPr>
          <p:cNvPr id="11" name="Text 9"/>
          <p:cNvSpPr txBox="1"/>
          <p:nvPr/>
        </p:nvSpPr>
        <p:spPr>
          <a:xfrm>
            <a:off x="8290560" y="1737360"/>
            <a:ext cx="313944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Visualization</a:t>
            </a:r>
            <a:endParaRPr lang="en-US" sz="1600" dirty="0"/>
          </a:p>
        </p:txBody>
      </p:sp>
      <p:sp>
        <p:nvSpPr>
          <p:cNvPr id="12" name="Text 10"/>
          <p:cNvSpPr txBox="1"/>
          <p:nvPr/>
        </p:nvSpPr>
        <p:spPr>
          <a:xfrm>
            <a:off x="8290560" y="2194560"/>
            <a:ext cx="3139440" cy="384048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6 dashboard pages: Home, Cancellations, Demand &amp; Seasonality, Guest Behavior, Revenue &amp; Pricing, Source &amp; Operations</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27 charts: line, bar, pie, box plot, scatter, choropleth map</a:t>
            </a:r>
            <a:endParaRPr lang="en-US" sz="1150" dirty="0"/>
          </a:p>
          <a:p>
            <a:pPr marL="342900" indent="-342900">
              <a:lnSpc>
                <a:spcPct val="1150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Built with Matplotlib, Seaborn &amp; Plotly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Key Performance Indicators</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Three headline metrics summarizing the cleaned dataset</a:t>
            </a:r>
            <a:endParaRPr lang="en-US" sz="1400" dirty="0"/>
          </a:p>
        </p:txBody>
      </p:sp>
      <p:sp>
        <p:nvSpPr>
          <p:cNvPr id="4" name="Shape 2"/>
          <p:cNvSpPr/>
          <p:nvPr/>
        </p:nvSpPr>
        <p:spPr>
          <a:xfrm>
            <a:off x="685800" y="2103120"/>
            <a:ext cx="3291840" cy="2926080"/>
          </a:xfrm>
          <a:prstGeom prst="roundRect">
            <a:avLst>
              <a:gd name="adj" fmla="val 4375"/>
            </a:avLst>
          </a:prstGeom>
          <a:solidFill>
            <a:srgbClr val="F4F6FB"/>
          </a:solidFill>
          <a:ln/>
          <a:effectLst>
            <a:outerShdw sx="100000" sy="100000" kx="0" ky="0" algn="bl" rotWithShape="0" blurRad="76200" dist="25400" dir="5400000">
              <a:srgbClr val="000000">
                <a:alpha val="18000"/>
              </a:srgbClr>
            </a:outerShdw>
          </a:effectLst>
        </p:spPr>
      </p:sp>
      <p:sp>
        <p:nvSpPr>
          <p:cNvPr id="5" name="Shape 3"/>
          <p:cNvSpPr/>
          <p:nvPr/>
        </p:nvSpPr>
        <p:spPr>
          <a:xfrm>
            <a:off x="1005840" y="2468880"/>
            <a:ext cx="2651760" cy="54864"/>
          </a:xfrm>
          <a:prstGeom prst="roundRect">
            <a:avLst>
              <a:gd name="adj" fmla="val 50000"/>
            </a:avLst>
          </a:prstGeom>
          <a:solidFill>
            <a:srgbClr val="1F3864"/>
          </a:solidFill>
          <a:ln/>
        </p:spPr>
      </p:sp>
      <p:sp>
        <p:nvSpPr>
          <p:cNvPr id="6" name="Text 4"/>
          <p:cNvSpPr txBox="1"/>
          <p:nvPr/>
        </p:nvSpPr>
        <p:spPr>
          <a:xfrm>
            <a:off x="777240" y="2834640"/>
            <a:ext cx="3108960" cy="1188720"/>
          </a:xfrm>
          <a:prstGeom prst="rect">
            <a:avLst/>
          </a:prstGeom>
          <a:noFill/>
          <a:ln/>
        </p:spPr>
        <p:txBody>
          <a:bodyPr wrap="square" lIns="0" tIns="0" rIns="0" bIns="0" rtlCol="0" anchor="ctr"/>
          <a:lstStyle/>
          <a:p>
            <a:pPr algn="ctr" indent="0" marL="0">
              <a:buNone/>
            </a:pPr>
            <a:r>
              <a:rPr lang="en-US" sz="4400" b="1" dirty="0">
                <a:solidFill>
                  <a:srgbClr val="1F3864"/>
                </a:solidFill>
                <a:latin typeface="Calibri" pitchFamily="34" charset="0"/>
                <a:ea typeface="Calibri" pitchFamily="34" charset="-122"/>
                <a:cs typeface="Calibri" pitchFamily="34" charset="-120"/>
              </a:rPr>
              <a:t>86,323</a:t>
            </a:r>
            <a:endParaRPr lang="en-US" sz="4400" dirty="0"/>
          </a:p>
        </p:txBody>
      </p:sp>
      <p:sp>
        <p:nvSpPr>
          <p:cNvPr id="7" name="Text 5"/>
          <p:cNvSpPr txBox="1"/>
          <p:nvPr/>
        </p:nvSpPr>
        <p:spPr>
          <a:xfrm>
            <a:off x="868680" y="4114800"/>
            <a:ext cx="2926080" cy="640080"/>
          </a:xfrm>
          <a:prstGeom prst="rect">
            <a:avLst/>
          </a:prstGeom>
          <a:noFill/>
          <a:ln/>
        </p:spPr>
        <p:txBody>
          <a:bodyPr wrap="square" lIns="0" tIns="0" rIns="0" bIns="0" rtlCol="0" anchor="t"/>
          <a:lstStyle/>
          <a:p>
            <a:pPr algn="ctr" indent="0" marL="0">
              <a:buNone/>
            </a:pPr>
            <a:r>
              <a:rPr lang="en-US" sz="1400" dirty="0">
                <a:solidFill>
                  <a:srgbClr val="5A5A5A"/>
                </a:solidFill>
                <a:latin typeface="Calibri" pitchFamily="34" charset="0"/>
                <a:ea typeface="Calibri" pitchFamily="34" charset="-122"/>
                <a:cs typeface="Calibri" pitchFamily="34" charset="-120"/>
              </a:rPr>
              <a:t>Number of Bookings</a:t>
            </a:r>
            <a:endParaRPr lang="en-US" sz="1400" dirty="0"/>
          </a:p>
        </p:txBody>
      </p:sp>
      <p:sp>
        <p:nvSpPr>
          <p:cNvPr id="8" name="Shape 6"/>
          <p:cNvSpPr/>
          <p:nvPr/>
        </p:nvSpPr>
        <p:spPr>
          <a:xfrm>
            <a:off x="4434840" y="2103120"/>
            <a:ext cx="3291840" cy="2926080"/>
          </a:xfrm>
          <a:prstGeom prst="roundRect">
            <a:avLst>
              <a:gd name="adj" fmla="val 4375"/>
            </a:avLst>
          </a:prstGeom>
          <a:solidFill>
            <a:srgbClr val="F4F6FB"/>
          </a:solidFill>
          <a:ln/>
          <a:effectLst>
            <a:outerShdw sx="100000" sy="100000" kx="0" ky="0" algn="bl" rotWithShape="0" blurRad="76200" dist="25400" dir="5400000">
              <a:srgbClr val="000000">
                <a:alpha val="18000"/>
              </a:srgbClr>
            </a:outerShdw>
          </a:effectLst>
        </p:spPr>
      </p:sp>
      <p:sp>
        <p:nvSpPr>
          <p:cNvPr id="9" name="Shape 7"/>
          <p:cNvSpPr/>
          <p:nvPr/>
        </p:nvSpPr>
        <p:spPr>
          <a:xfrm>
            <a:off x="4754880" y="2468880"/>
            <a:ext cx="2651760" cy="54864"/>
          </a:xfrm>
          <a:prstGeom prst="roundRect">
            <a:avLst>
              <a:gd name="adj" fmla="val 50000"/>
            </a:avLst>
          </a:prstGeom>
          <a:solidFill>
            <a:srgbClr val="1F3864"/>
          </a:solidFill>
          <a:ln/>
        </p:spPr>
      </p:sp>
      <p:sp>
        <p:nvSpPr>
          <p:cNvPr id="10" name="Text 8"/>
          <p:cNvSpPr txBox="1"/>
          <p:nvPr/>
        </p:nvSpPr>
        <p:spPr>
          <a:xfrm>
            <a:off x="4526280" y="2834640"/>
            <a:ext cx="3108960" cy="1188720"/>
          </a:xfrm>
          <a:prstGeom prst="rect">
            <a:avLst/>
          </a:prstGeom>
          <a:noFill/>
          <a:ln/>
        </p:spPr>
        <p:txBody>
          <a:bodyPr wrap="square" lIns="0" tIns="0" rIns="0" bIns="0" rtlCol="0" anchor="ctr"/>
          <a:lstStyle/>
          <a:p>
            <a:pPr algn="ctr" indent="0" marL="0">
              <a:buNone/>
            </a:pPr>
            <a:r>
              <a:rPr lang="en-US" sz="4400" b="1" dirty="0">
                <a:solidFill>
                  <a:srgbClr val="1F3864"/>
                </a:solidFill>
                <a:latin typeface="Calibri" pitchFamily="34" charset="0"/>
                <a:ea typeface="Calibri" pitchFamily="34" charset="-122"/>
                <a:cs typeface="Calibri" pitchFamily="34" charset="-120"/>
              </a:rPr>
              <a:t>2</a:t>
            </a:r>
            <a:endParaRPr lang="en-US" sz="4400" dirty="0"/>
          </a:p>
        </p:txBody>
      </p:sp>
      <p:sp>
        <p:nvSpPr>
          <p:cNvPr id="11" name="Text 9"/>
          <p:cNvSpPr txBox="1"/>
          <p:nvPr/>
        </p:nvSpPr>
        <p:spPr>
          <a:xfrm>
            <a:off x="4617720" y="4114800"/>
            <a:ext cx="2926080" cy="640080"/>
          </a:xfrm>
          <a:prstGeom prst="rect">
            <a:avLst/>
          </a:prstGeom>
          <a:noFill/>
          <a:ln/>
        </p:spPr>
        <p:txBody>
          <a:bodyPr wrap="square" lIns="0" tIns="0" rIns="0" bIns="0" rtlCol="0" anchor="t"/>
          <a:lstStyle/>
          <a:p>
            <a:pPr algn="ctr" indent="0" marL="0">
              <a:buNone/>
            </a:pPr>
            <a:r>
              <a:rPr lang="en-US" sz="1400" dirty="0">
                <a:solidFill>
                  <a:srgbClr val="5A5A5A"/>
                </a:solidFill>
                <a:latin typeface="Calibri" pitchFamily="34" charset="0"/>
                <a:ea typeface="Calibri" pitchFamily="34" charset="-122"/>
                <a:cs typeface="Calibri" pitchFamily="34" charset="-120"/>
              </a:rPr>
              <a:t>Number of Hotels</a:t>
            </a:r>
            <a:endParaRPr lang="en-US" sz="1400" dirty="0"/>
          </a:p>
        </p:txBody>
      </p:sp>
      <p:sp>
        <p:nvSpPr>
          <p:cNvPr id="12" name="Shape 10"/>
          <p:cNvSpPr/>
          <p:nvPr/>
        </p:nvSpPr>
        <p:spPr>
          <a:xfrm>
            <a:off x="8183880" y="2103120"/>
            <a:ext cx="3291840" cy="2926080"/>
          </a:xfrm>
          <a:prstGeom prst="roundRect">
            <a:avLst>
              <a:gd name="adj" fmla="val 4375"/>
            </a:avLst>
          </a:prstGeom>
          <a:solidFill>
            <a:srgbClr val="F4F6FB"/>
          </a:solidFill>
          <a:ln/>
          <a:effectLst>
            <a:outerShdw sx="100000" sy="100000" kx="0" ky="0" algn="bl" rotWithShape="0" blurRad="76200" dist="25400" dir="5400000">
              <a:srgbClr val="000000">
                <a:alpha val="18000"/>
              </a:srgbClr>
            </a:outerShdw>
          </a:effectLst>
        </p:spPr>
      </p:sp>
      <p:sp>
        <p:nvSpPr>
          <p:cNvPr id="13" name="Shape 11"/>
          <p:cNvSpPr/>
          <p:nvPr/>
        </p:nvSpPr>
        <p:spPr>
          <a:xfrm>
            <a:off x="8503920" y="2468880"/>
            <a:ext cx="2651760" cy="54864"/>
          </a:xfrm>
          <a:prstGeom prst="roundRect">
            <a:avLst>
              <a:gd name="adj" fmla="val 50000"/>
            </a:avLst>
          </a:prstGeom>
          <a:solidFill>
            <a:srgbClr val="1F3864"/>
          </a:solidFill>
          <a:ln/>
        </p:spPr>
      </p:sp>
      <p:sp>
        <p:nvSpPr>
          <p:cNvPr id="14" name="Text 12"/>
          <p:cNvSpPr txBox="1"/>
          <p:nvPr/>
        </p:nvSpPr>
        <p:spPr>
          <a:xfrm>
            <a:off x="8275320" y="2834640"/>
            <a:ext cx="3108960" cy="1188720"/>
          </a:xfrm>
          <a:prstGeom prst="rect">
            <a:avLst/>
          </a:prstGeom>
          <a:noFill/>
          <a:ln/>
        </p:spPr>
        <p:txBody>
          <a:bodyPr wrap="square" lIns="0" tIns="0" rIns="0" bIns="0" rtlCol="0" anchor="ctr"/>
          <a:lstStyle/>
          <a:p>
            <a:pPr algn="ctr" indent="0" marL="0">
              <a:buNone/>
            </a:pPr>
            <a:r>
              <a:rPr lang="en-US" sz="4400" b="1" dirty="0">
                <a:solidFill>
                  <a:srgbClr val="1F3864"/>
                </a:solidFill>
                <a:latin typeface="Calibri" pitchFamily="34" charset="0"/>
                <a:ea typeface="Calibri" pitchFamily="34" charset="-122"/>
                <a:cs typeface="Calibri" pitchFamily="34" charset="-120"/>
              </a:rPr>
              <a:t>107.34</a:t>
            </a:r>
            <a:endParaRPr lang="en-US" sz="4400" dirty="0"/>
          </a:p>
        </p:txBody>
      </p:sp>
      <p:sp>
        <p:nvSpPr>
          <p:cNvPr id="15" name="Text 13"/>
          <p:cNvSpPr txBox="1"/>
          <p:nvPr/>
        </p:nvSpPr>
        <p:spPr>
          <a:xfrm>
            <a:off x="8366760" y="4114800"/>
            <a:ext cx="2926080" cy="640080"/>
          </a:xfrm>
          <a:prstGeom prst="rect">
            <a:avLst/>
          </a:prstGeom>
          <a:noFill/>
          <a:ln/>
        </p:spPr>
        <p:txBody>
          <a:bodyPr wrap="square" lIns="0" tIns="0" rIns="0" bIns="0" rtlCol="0" anchor="t"/>
          <a:lstStyle/>
          <a:p>
            <a:pPr algn="ctr" indent="0" marL="0">
              <a:buNone/>
            </a:pPr>
            <a:r>
              <a:rPr lang="en-US" sz="1400" dirty="0">
                <a:solidFill>
                  <a:srgbClr val="5A5A5A"/>
                </a:solidFill>
                <a:latin typeface="Calibri" pitchFamily="34" charset="0"/>
                <a:ea typeface="Calibri" pitchFamily="34" charset="-122"/>
                <a:cs typeface="Calibri" pitchFamily="34" charset="-120"/>
              </a:rPr>
              <a:t>Average Daily Rate (ADR)</a:t>
            </a:r>
            <a:endParaRPr lang="en-US" sz="1400" dirty="0"/>
          </a:p>
        </p:txBody>
      </p:sp>
      <p:sp>
        <p:nvSpPr>
          <p:cNvPr id="16" name="Text 14"/>
          <p:cNvSpPr txBox="1"/>
          <p:nvPr/>
        </p:nvSpPr>
        <p:spPr>
          <a:xfrm>
            <a:off x="548640" y="5623560"/>
            <a:ext cx="11064240" cy="365760"/>
          </a:xfrm>
          <a:prstGeom prst="rect">
            <a:avLst/>
          </a:prstGeom>
          <a:noFill/>
          <a:ln/>
        </p:spPr>
        <p:txBody>
          <a:bodyPr wrap="square" lIns="0" tIns="0" rIns="0" bIns="0" rtlCol="0" anchor="ctr"/>
          <a:lstStyle/>
          <a:p>
            <a:pPr algn="ctr" indent="0" marL="0">
              <a:buNone/>
            </a:pPr>
            <a:r>
              <a:rPr lang="en-US" sz="1100" i="1" dirty="0">
                <a:solidFill>
                  <a:srgbClr val="5A5A5A"/>
                </a:solidFill>
                <a:latin typeface="Calibri" pitchFamily="34" charset="0"/>
                <a:ea typeface="Calibri" pitchFamily="34" charset="-122"/>
                <a:cs typeface="Calibri" pitchFamily="34" charset="-120"/>
              </a:rPr>
              <a:t>Computed from the final cleaned dataset (duplicates, invalid nulls, and zero-night non-canceled bookings removed).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Power BI Work (Asmaa Mohamed Mahmoud)</a:t>
            </a:r>
            <a:endParaRPr lang="en-US" sz="26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Project objective, dataset overview, and data cleaning in Power Query</a:t>
            </a:r>
            <a:endParaRPr lang="en-US" sz="1400" dirty="0"/>
          </a:p>
        </p:txBody>
      </p:sp>
      <p:sp>
        <p:nvSpPr>
          <p:cNvPr id="4" name="Shape 2"/>
          <p:cNvSpPr/>
          <p:nvPr/>
        </p:nvSpPr>
        <p:spPr>
          <a:xfrm>
            <a:off x="548640" y="1554480"/>
            <a:ext cx="4846320" cy="4663440"/>
          </a:xfrm>
          <a:prstGeom prst="roundRect">
            <a:avLst>
              <a:gd name="adj" fmla="val 1961"/>
            </a:avLst>
          </a:prstGeom>
          <a:solidFill>
            <a:srgbClr val="F4F6FB"/>
          </a:solidFill>
          <a:ln/>
        </p:spPr>
      </p:sp>
      <p:sp>
        <p:nvSpPr>
          <p:cNvPr id="5" name="Text 3"/>
          <p:cNvSpPr txBox="1"/>
          <p:nvPr/>
        </p:nvSpPr>
        <p:spPr>
          <a:xfrm>
            <a:off x="731520" y="1737360"/>
            <a:ext cx="448056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Project Objective</a:t>
            </a:r>
            <a:endParaRPr lang="en-US" sz="1600" dirty="0"/>
          </a:p>
        </p:txBody>
      </p:sp>
      <p:sp>
        <p:nvSpPr>
          <p:cNvPr id="6" name="Text 4"/>
          <p:cNvSpPr txBox="1"/>
          <p:nvPr/>
        </p:nvSpPr>
        <p:spPr>
          <a:xfrm>
            <a:off x="731520" y="2194560"/>
            <a:ext cx="4480560" cy="38404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Analyze hotel booking data using Microsoft Power BI</a:t>
            </a:r>
            <a:endParaRPr lang="en-US" sz="1300" dirty="0"/>
          </a:p>
          <a:p>
            <a:pPr marL="342900" indent="-342900">
              <a:lnSpc>
                <a:spcPct val="115000"/>
              </a:lnSpc>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Clean the dataset and improve data quality before analysis</a:t>
            </a:r>
            <a:endParaRPr lang="en-US" sz="1300" dirty="0"/>
          </a:p>
          <a:p>
            <a:pPr marL="342900" indent="-342900">
              <a:lnSpc>
                <a:spcPct val="115000"/>
              </a:lnSpc>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Identify booking patterns and cancellation behavior</a:t>
            </a:r>
            <a:endParaRPr lang="en-US" sz="1300" dirty="0"/>
          </a:p>
          <a:p>
            <a:pPr marL="342900" indent="-342900">
              <a:lnSpc>
                <a:spcPct val="115000"/>
              </a:lnSpc>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Create clear KPIs and visualizations for management-style reporting</a:t>
            </a:r>
            <a:endParaRPr lang="en-US" sz="1300" dirty="0"/>
          </a:p>
          <a:p>
            <a:pPr marL="342900" indent="-342900">
              <a:lnSpc>
                <a:spcPct val="115000"/>
              </a:lnSpc>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Present the results in a simple, interactive dashboard</a:t>
            </a:r>
            <a:endParaRPr lang="en-US" sz="1300" dirty="0"/>
          </a:p>
        </p:txBody>
      </p:sp>
      <p:sp>
        <p:nvSpPr>
          <p:cNvPr id="7" name="Text 5"/>
          <p:cNvSpPr txBox="1"/>
          <p:nvPr/>
        </p:nvSpPr>
        <p:spPr>
          <a:xfrm>
            <a:off x="5669280" y="1554480"/>
            <a:ext cx="5943600" cy="32004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Dataset Overview</a:t>
            </a:r>
            <a:endParaRPr lang="en-US" sz="1600" dirty="0"/>
          </a:p>
        </p:txBody>
      </p:sp>
      <p:sp>
        <p:nvSpPr>
          <p:cNvPr id="8" name="Shape 6"/>
          <p:cNvSpPr/>
          <p:nvPr/>
        </p:nvSpPr>
        <p:spPr>
          <a:xfrm>
            <a:off x="5669280" y="1920240"/>
            <a:ext cx="2880360" cy="868680"/>
          </a:xfrm>
          <a:prstGeom prst="roundRect">
            <a:avLst>
              <a:gd name="adj" fmla="val 8421"/>
            </a:avLst>
          </a:prstGeom>
          <a:solidFill>
            <a:srgbClr val="F4F6FB"/>
          </a:solidFill>
          <a:ln/>
        </p:spPr>
      </p:sp>
      <p:sp>
        <p:nvSpPr>
          <p:cNvPr id="9" name="Text 7"/>
          <p:cNvSpPr txBox="1"/>
          <p:nvPr/>
        </p:nvSpPr>
        <p:spPr>
          <a:xfrm>
            <a:off x="5760720" y="1993392"/>
            <a:ext cx="2697480" cy="411480"/>
          </a:xfrm>
          <a:prstGeom prst="rect">
            <a:avLst/>
          </a:prstGeom>
          <a:noFill/>
          <a:ln/>
        </p:spPr>
        <p:txBody>
          <a:bodyPr wrap="square" lIns="0" tIns="0" rIns="0" bIns="0" rtlCol="0" anchor="ctr"/>
          <a:lstStyle/>
          <a:p>
            <a:pPr algn="ctr" indent="0" marL="0">
              <a:buNone/>
            </a:pPr>
            <a:r>
              <a:rPr lang="en-US" sz="1800" b="1" dirty="0">
                <a:solidFill>
                  <a:srgbClr val="1F3864"/>
                </a:solidFill>
                <a:latin typeface="Calibri" pitchFamily="34" charset="0"/>
                <a:ea typeface="Calibri" pitchFamily="34" charset="-122"/>
                <a:cs typeface="Calibri" pitchFamily="34" charset="-120"/>
              </a:rPr>
              <a:t>119,390</a:t>
            </a:r>
            <a:endParaRPr lang="en-US" sz="1800" dirty="0"/>
          </a:p>
        </p:txBody>
      </p:sp>
      <p:sp>
        <p:nvSpPr>
          <p:cNvPr id="10" name="Text 8"/>
          <p:cNvSpPr txBox="1"/>
          <p:nvPr/>
        </p:nvSpPr>
        <p:spPr>
          <a:xfrm>
            <a:off x="5760720" y="2423160"/>
            <a:ext cx="2697480" cy="320040"/>
          </a:xfrm>
          <a:prstGeom prst="rect">
            <a:avLst/>
          </a:prstGeom>
          <a:noFill/>
          <a:ln/>
        </p:spPr>
        <p:txBody>
          <a:bodyPr wrap="square" lIns="0" tIns="0" rIns="0" bIns="0" rtlCol="0" anchor="ctr"/>
          <a:lstStyle/>
          <a:p>
            <a:pPr algn="ctr" indent="0" marL="0">
              <a:buNone/>
            </a:pPr>
            <a:r>
              <a:rPr lang="en-US" sz="1000" dirty="0">
                <a:solidFill>
                  <a:srgbClr val="5A5A5A"/>
                </a:solidFill>
                <a:latin typeface="Calibri" pitchFamily="34" charset="0"/>
                <a:ea typeface="Calibri" pitchFamily="34" charset="-122"/>
                <a:cs typeface="Calibri" pitchFamily="34" charset="-120"/>
              </a:rPr>
              <a:t>Original Rows</a:t>
            </a:r>
            <a:endParaRPr lang="en-US" sz="1000" dirty="0"/>
          </a:p>
        </p:txBody>
      </p:sp>
      <p:sp>
        <p:nvSpPr>
          <p:cNvPr id="11" name="Shape 9"/>
          <p:cNvSpPr/>
          <p:nvPr/>
        </p:nvSpPr>
        <p:spPr>
          <a:xfrm>
            <a:off x="8732520" y="1920240"/>
            <a:ext cx="2880360" cy="868680"/>
          </a:xfrm>
          <a:prstGeom prst="roundRect">
            <a:avLst>
              <a:gd name="adj" fmla="val 8421"/>
            </a:avLst>
          </a:prstGeom>
          <a:solidFill>
            <a:srgbClr val="F4F6FB"/>
          </a:solidFill>
          <a:ln/>
        </p:spPr>
      </p:sp>
      <p:sp>
        <p:nvSpPr>
          <p:cNvPr id="12" name="Text 10"/>
          <p:cNvSpPr txBox="1"/>
          <p:nvPr/>
        </p:nvSpPr>
        <p:spPr>
          <a:xfrm>
            <a:off x="8823960" y="1993392"/>
            <a:ext cx="2697480" cy="411480"/>
          </a:xfrm>
          <a:prstGeom prst="rect">
            <a:avLst/>
          </a:prstGeom>
          <a:noFill/>
          <a:ln/>
        </p:spPr>
        <p:txBody>
          <a:bodyPr wrap="square" lIns="0" tIns="0" rIns="0" bIns="0" rtlCol="0" anchor="ctr"/>
          <a:lstStyle/>
          <a:p>
            <a:pPr algn="ctr" indent="0" marL="0">
              <a:buNone/>
            </a:pPr>
            <a:r>
              <a:rPr lang="en-US" sz="1800" b="1" dirty="0">
                <a:solidFill>
                  <a:srgbClr val="1F3864"/>
                </a:solidFill>
                <a:latin typeface="Calibri" pitchFamily="34" charset="0"/>
                <a:ea typeface="Calibri" pitchFamily="34" charset="-122"/>
                <a:cs typeface="Calibri" pitchFamily="34" charset="-120"/>
              </a:rPr>
              <a:t>32</a:t>
            </a:r>
            <a:endParaRPr lang="en-US" sz="1800" dirty="0"/>
          </a:p>
        </p:txBody>
      </p:sp>
      <p:sp>
        <p:nvSpPr>
          <p:cNvPr id="13" name="Text 11"/>
          <p:cNvSpPr txBox="1"/>
          <p:nvPr/>
        </p:nvSpPr>
        <p:spPr>
          <a:xfrm>
            <a:off x="8823960" y="2423160"/>
            <a:ext cx="2697480" cy="320040"/>
          </a:xfrm>
          <a:prstGeom prst="rect">
            <a:avLst/>
          </a:prstGeom>
          <a:noFill/>
          <a:ln/>
        </p:spPr>
        <p:txBody>
          <a:bodyPr wrap="square" lIns="0" tIns="0" rIns="0" bIns="0" rtlCol="0" anchor="ctr"/>
          <a:lstStyle/>
          <a:p>
            <a:pPr algn="ctr" indent="0" marL="0">
              <a:buNone/>
            </a:pPr>
            <a:r>
              <a:rPr lang="en-US" sz="1000" dirty="0">
                <a:solidFill>
                  <a:srgbClr val="5A5A5A"/>
                </a:solidFill>
                <a:latin typeface="Calibri" pitchFamily="34" charset="0"/>
                <a:ea typeface="Calibri" pitchFamily="34" charset="-122"/>
                <a:cs typeface="Calibri" pitchFamily="34" charset="-120"/>
              </a:rPr>
              <a:t>Columns</a:t>
            </a:r>
            <a:endParaRPr lang="en-US" sz="1000" dirty="0"/>
          </a:p>
        </p:txBody>
      </p:sp>
      <p:sp>
        <p:nvSpPr>
          <p:cNvPr id="14" name="Shape 12"/>
          <p:cNvSpPr/>
          <p:nvPr/>
        </p:nvSpPr>
        <p:spPr>
          <a:xfrm>
            <a:off x="5669280" y="2926080"/>
            <a:ext cx="2880360" cy="868680"/>
          </a:xfrm>
          <a:prstGeom prst="roundRect">
            <a:avLst>
              <a:gd name="adj" fmla="val 8421"/>
            </a:avLst>
          </a:prstGeom>
          <a:solidFill>
            <a:srgbClr val="F4F6FB"/>
          </a:solidFill>
          <a:ln/>
        </p:spPr>
      </p:sp>
      <p:sp>
        <p:nvSpPr>
          <p:cNvPr id="15" name="Text 13"/>
          <p:cNvSpPr txBox="1"/>
          <p:nvPr/>
        </p:nvSpPr>
        <p:spPr>
          <a:xfrm>
            <a:off x="5760720" y="2999232"/>
            <a:ext cx="2697480" cy="411480"/>
          </a:xfrm>
          <a:prstGeom prst="rect">
            <a:avLst/>
          </a:prstGeom>
          <a:noFill/>
          <a:ln/>
        </p:spPr>
        <p:txBody>
          <a:bodyPr wrap="square" lIns="0" tIns="0" rIns="0" bIns="0" rtlCol="0" anchor="ctr"/>
          <a:lstStyle/>
          <a:p>
            <a:pPr algn="ctr" indent="0" marL="0">
              <a:buNone/>
            </a:pPr>
            <a:r>
              <a:rPr lang="en-US" sz="1800" b="1" dirty="0">
                <a:solidFill>
                  <a:srgbClr val="1F3864"/>
                </a:solidFill>
                <a:latin typeface="Calibri" pitchFamily="34" charset="0"/>
                <a:ea typeface="Calibri" pitchFamily="34" charset="-122"/>
                <a:cs typeface="Calibri" pitchFamily="34" charset="-120"/>
              </a:rPr>
              <a:t>31,994</a:t>
            </a:r>
            <a:endParaRPr lang="en-US" sz="1800" dirty="0"/>
          </a:p>
        </p:txBody>
      </p:sp>
      <p:sp>
        <p:nvSpPr>
          <p:cNvPr id="16" name="Text 14"/>
          <p:cNvSpPr txBox="1"/>
          <p:nvPr/>
        </p:nvSpPr>
        <p:spPr>
          <a:xfrm>
            <a:off x="5760720" y="3429000"/>
            <a:ext cx="2697480" cy="320040"/>
          </a:xfrm>
          <a:prstGeom prst="rect">
            <a:avLst/>
          </a:prstGeom>
          <a:noFill/>
          <a:ln/>
        </p:spPr>
        <p:txBody>
          <a:bodyPr wrap="square" lIns="0" tIns="0" rIns="0" bIns="0" rtlCol="0" anchor="ctr"/>
          <a:lstStyle/>
          <a:p>
            <a:pPr algn="ctr" indent="0" marL="0">
              <a:buNone/>
            </a:pPr>
            <a:r>
              <a:rPr lang="en-US" sz="1000" dirty="0">
                <a:solidFill>
                  <a:srgbClr val="5A5A5A"/>
                </a:solidFill>
                <a:latin typeface="Calibri" pitchFamily="34" charset="0"/>
                <a:ea typeface="Calibri" pitchFamily="34" charset="-122"/>
                <a:cs typeface="Calibri" pitchFamily="34" charset="-120"/>
              </a:rPr>
              <a:t>Duplicate Rows</a:t>
            </a:r>
            <a:endParaRPr lang="en-US" sz="1000" dirty="0"/>
          </a:p>
        </p:txBody>
      </p:sp>
      <p:sp>
        <p:nvSpPr>
          <p:cNvPr id="17" name="Shape 15"/>
          <p:cNvSpPr/>
          <p:nvPr/>
        </p:nvSpPr>
        <p:spPr>
          <a:xfrm>
            <a:off x="8732520" y="2926080"/>
            <a:ext cx="2880360" cy="868680"/>
          </a:xfrm>
          <a:prstGeom prst="roundRect">
            <a:avLst>
              <a:gd name="adj" fmla="val 8421"/>
            </a:avLst>
          </a:prstGeom>
          <a:solidFill>
            <a:srgbClr val="F4F6FB"/>
          </a:solidFill>
          <a:ln/>
        </p:spPr>
      </p:sp>
      <p:sp>
        <p:nvSpPr>
          <p:cNvPr id="18" name="Text 16"/>
          <p:cNvSpPr txBox="1"/>
          <p:nvPr/>
        </p:nvSpPr>
        <p:spPr>
          <a:xfrm>
            <a:off x="8823960" y="2999232"/>
            <a:ext cx="2697480" cy="411480"/>
          </a:xfrm>
          <a:prstGeom prst="rect">
            <a:avLst/>
          </a:prstGeom>
          <a:noFill/>
          <a:ln/>
        </p:spPr>
        <p:txBody>
          <a:bodyPr wrap="square" lIns="0" tIns="0" rIns="0" bIns="0" rtlCol="0" anchor="ctr"/>
          <a:lstStyle/>
          <a:p>
            <a:pPr algn="ctr" indent="0" marL="0">
              <a:buNone/>
            </a:pPr>
            <a:r>
              <a:rPr lang="en-US" sz="1800" b="1" dirty="0">
                <a:solidFill>
                  <a:srgbClr val="1F3864"/>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8823960" y="3429000"/>
            <a:ext cx="2697480" cy="320040"/>
          </a:xfrm>
          <a:prstGeom prst="rect">
            <a:avLst/>
          </a:prstGeom>
          <a:noFill/>
          <a:ln/>
        </p:spPr>
        <p:txBody>
          <a:bodyPr wrap="square" lIns="0" tIns="0" rIns="0" bIns="0" rtlCol="0" anchor="ctr"/>
          <a:lstStyle/>
          <a:p>
            <a:pPr algn="ctr" indent="0" marL="0">
              <a:buNone/>
            </a:pPr>
            <a:r>
              <a:rPr lang="en-US" sz="1000" dirty="0">
                <a:solidFill>
                  <a:srgbClr val="5A5A5A"/>
                </a:solidFill>
                <a:latin typeface="Calibri" pitchFamily="34" charset="0"/>
                <a:ea typeface="Calibri" pitchFamily="34" charset="-122"/>
                <a:cs typeface="Calibri" pitchFamily="34" charset="-120"/>
              </a:rPr>
              <a:t>Columns With Nulls</a:t>
            </a:r>
            <a:endParaRPr lang="en-US" sz="1000" dirty="0"/>
          </a:p>
        </p:txBody>
      </p:sp>
      <p:sp>
        <p:nvSpPr>
          <p:cNvPr id="20" name="Text 18"/>
          <p:cNvSpPr txBox="1"/>
          <p:nvPr/>
        </p:nvSpPr>
        <p:spPr>
          <a:xfrm>
            <a:off x="5669280" y="4160520"/>
            <a:ext cx="5943600" cy="32004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Data Cleaning (Power Query)</a:t>
            </a:r>
            <a:endParaRPr lang="en-US" sz="1600" dirty="0"/>
          </a:p>
        </p:txBody>
      </p:sp>
      <p:sp>
        <p:nvSpPr>
          <p:cNvPr id="21" name="Text 19"/>
          <p:cNvSpPr txBox="1"/>
          <p:nvPr/>
        </p:nvSpPr>
        <p:spPr>
          <a:xfrm>
            <a:off x="5669280" y="4526280"/>
            <a:ext cx="5943600" cy="164592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Removed exact duplicate rows</a:t>
            </a:r>
            <a:endParaRPr lang="en-US" sz="1150" dirty="0"/>
          </a:p>
          <a:p>
            <a:pPr marL="342900" indent="-342900">
              <a:lnSpc>
                <a:spcPct val="110000"/>
              </a:lnSpc>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Filled missing children values with 0</a:t>
            </a:r>
            <a:endParaRPr lang="en-US" sz="1150" dirty="0"/>
          </a:p>
          <a:p>
            <a:pPr marL="342900" indent="-342900">
              <a:lnSpc>
                <a:spcPct val="110000"/>
              </a:lnSpc>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Kept agent/company nulls as-is — blank means none recorded</a:t>
            </a:r>
            <a:endParaRPr lang="en-US" sz="1150" dirty="0"/>
          </a:p>
          <a:p>
            <a:pPr marL="342900" indent="-342900">
              <a:lnSpc>
                <a:spcPct val="110000"/>
              </a:lnSpc>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Inspected column names and types before analysis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Power BI — Recommended Dashboard KPIs</a:t>
            </a:r>
            <a:endParaRPr lang="en-US" sz="26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A quick summary of booking volume, cancellation behavior, pricing, and lead time</a:t>
            </a:r>
            <a:endParaRPr lang="en-US" sz="1400" dirty="0"/>
          </a:p>
        </p:txBody>
      </p:sp>
      <p:sp>
        <p:nvSpPr>
          <p:cNvPr id="4" name="Shape 2"/>
          <p:cNvSpPr/>
          <p:nvPr/>
        </p:nvSpPr>
        <p:spPr>
          <a:xfrm>
            <a:off x="393192" y="2011680"/>
            <a:ext cx="2651760" cy="2286000"/>
          </a:xfrm>
          <a:prstGeom prst="roundRect">
            <a:avLst>
              <a:gd name="adj" fmla="val 4800"/>
            </a:avLst>
          </a:prstGeom>
          <a:solidFill>
            <a:srgbClr val="F4F6FB"/>
          </a:solidFill>
          <a:ln w="12700">
            <a:solidFill>
              <a:srgbClr val="C7D2E8"/>
            </a:solidFill>
            <a:prstDash val="solid"/>
          </a:ln>
        </p:spPr>
      </p:sp>
      <p:sp>
        <p:nvSpPr>
          <p:cNvPr id="5" name="Text 3"/>
          <p:cNvSpPr txBox="1"/>
          <p:nvPr/>
        </p:nvSpPr>
        <p:spPr>
          <a:xfrm>
            <a:off x="530352" y="2331720"/>
            <a:ext cx="2377440" cy="640080"/>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Total Bookings</a:t>
            </a:r>
            <a:endParaRPr lang="en-US" sz="1500" dirty="0"/>
          </a:p>
        </p:txBody>
      </p:sp>
      <p:sp>
        <p:nvSpPr>
          <p:cNvPr id="6" name="Text 4"/>
          <p:cNvSpPr txBox="1"/>
          <p:nvPr/>
        </p:nvSpPr>
        <p:spPr>
          <a:xfrm>
            <a:off x="576072" y="3200400"/>
            <a:ext cx="2286000" cy="822960"/>
          </a:xfrm>
          <a:prstGeom prst="rect">
            <a:avLst/>
          </a:prstGeom>
          <a:noFill/>
          <a:ln/>
        </p:spPr>
        <p:txBody>
          <a:bodyPr wrap="square" lIns="0" tIns="0" rIns="0" bIns="0" rtlCol="0" anchor="t"/>
          <a:lstStyle/>
          <a:p>
            <a:pPr algn="ctr" indent="0" marL="0">
              <a:buNone/>
            </a:pPr>
            <a:r>
              <a:rPr lang="en-US" sz="1100" dirty="0">
                <a:solidFill>
                  <a:srgbClr val="5A5A5A"/>
                </a:solidFill>
                <a:latin typeface="Calibri" pitchFamily="34" charset="0"/>
                <a:ea typeface="Calibri" pitchFamily="34" charset="-122"/>
                <a:cs typeface="Calibri" pitchFamily="34" charset="-120"/>
              </a:rPr>
              <a:t>Count of booking records</a:t>
            </a:r>
            <a:endParaRPr lang="en-US" sz="1100" dirty="0"/>
          </a:p>
        </p:txBody>
      </p:sp>
      <p:sp>
        <p:nvSpPr>
          <p:cNvPr id="7" name="Shape 5"/>
          <p:cNvSpPr/>
          <p:nvPr/>
        </p:nvSpPr>
        <p:spPr>
          <a:xfrm>
            <a:off x="3300984" y="2011680"/>
            <a:ext cx="2651760" cy="2286000"/>
          </a:xfrm>
          <a:prstGeom prst="roundRect">
            <a:avLst>
              <a:gd name="adj" fmla="val 4800"/>
            </a:avLst>
          </a:prstGeom>
          <a:solidFill>
            <a:srgbClr val="F4F6FB"/>
          </a:solidFill>
          <a:ln w="12700">
            <a:solidFill>
              <a:srgbClr val="C7D2E8"/>
            </a:solidFill>
            <a:prstDash val="solid"/>
          </a:ln>
        </p:spPr>
      </p:sp>
      <p:sp>
        <p:nvSpPr>
          <p:cNvPr id="8" name="Text 6"/>
          <p:cNvSpPr txBox="1"/>
          <p:nvPr/>
        </p:nvSpPr>
        <p:spPr>
          <a:xfrm>
            <a:off x="3438144" y="2331720"/>
            <a:ext cx="2377440" cy="640080"/>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Cancellation Rate</a:t>
            </a:r>
            <a:endParaRPr lang="en-US" sz="1500" dirty="0"/>
          </a:p>
        </p:txBody>
      </p:sp>
      <p:sp>
        <p:nvSpPr>
          <p:cNvPr id="9" name="Text 7"/>
          <p:cNvSpPr txBox="1"/>
          <p:nvPr/>
        </p:nvSpPr>
        <p:spPr>
          <a:xfrm>
            <a:off x="3483864" y="3200400"/>
            <a:ext cx="2286000" cy="822960"/>
          </a:xfrm>
          <a:prstGeom prst="rect">
            <a:avLst/>
          </a:prstGeom>
          <a:noFill/>
          <a:ln/>
        </p:spPr>
        <p:txBody>
          <a:bodyPr wrap="square" lIns="0" tIns="0" rIns="0" bIns="0" rtlCol="0" anchor="t"/>
          <a:lstStyle/>
          <a:p>
            <a:pPr algn="ctr" indent="0" marL="0">
              <a:buNone/>
            </a:pPr>
            <a:r>
              <a:rPr lang="en-US" sz="1100" dirty="0">
                <a:solidFill>
                  <a:srgbClr val="5A5A5A"/>
                </a:solidFill>
                <a:latin typeface="Calibri" pitchFamily="34" charset="0"/>
                <a:ea typeface="Calibri" pitchFamily="34" charset="-122"/>
                <a:cs typeface="Calibri" pitchFamily="34" charset="-120"/>
              </a:rPr>
              <a:t>Canceled bookings ÷ total bookings</a:t>
            </a:r>
            <a:endParaRPr lang="en-US" sz="1100" dirty="0"/>
          </a:p>
        </p:txBody>
      </p:sp>
      <p:sp>
        <p:nvSpPr>
          <p:cNvPr id="10" name="Shape 8"/>
          <p:cNvSpPr/>
          <p:nvPr/>
        </p:nvSpPr>
        <p:spPr>
          <a:xfrm>
            <a:off x="6208776" y="2011680"/>
            <a:ext cx="2651760" cy="2286000"/>
          </a:xfrm>
          <a:prstGeom prst="roundRect">
            <a:avLst>
              <a:gd name="adj" fmla="val 4800"/>
            </a:avLst>
          </a:prstGeom>
          <a:solidFill>
            <a:srgbClr val="F4F6FB"/>
          </a:solidFill>
          <a:ln w="12700">
            <a:solidFill>
              <a:srgbClr val="C7D2E8"/>
            </a:solidFill>
            <a:prstDash val="solid"/>
          </a:ln>
        </p:spPr>
      </p:sp>
      <p:sp>
        <p:nvSpPr>
          <p:cNvPr id="11" name="Text 9"/>
          <p:cNvSpPr txBox="1"/>
          <p:nvPr/>
        </p:nvSpPr>
        <p:spPr>
          <a:xfrm>
            <a:off x="6345936" y="2331720"/>
            <a:ext cx="2377440" cy="640080"/>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Average ADR</a:t>
            </a:r>
            <a:endParaRPr lang="en-US" sz="1500" dirty="0"/>
          </a:p>
        </p:txBody>
      </p:sp>
      <p:sp>
        <p:nvSpPr>
          <p:cNvPr id="12" name="Text 10"/>
          <p:cNvSpPr txBox="1"/>
          <p:nvPr/>
        </p:nvSpPr>
        <p:spPr>
          <a:xfrm>
            <a:off x="6391656" y="3200400"/>
            <a:ext cx="2286000" cy="822960"/>
          </a:xfrm>
          <a:prstGeom prst="rect">
            <a:avLst/>
          </a:prstGeom>
          <a:noFill/>
          <a:ln/>
        </p:spPr>
        <p:txBody>
          <a:bodyPr wrap="square" lIns="0" tIns="0" rIns="0" bIns="0" rtlCol="0" anchor="t"/>
          <a:lstStyle/>
          <a:p>
            <a:pPr algn="ctr" indent="0" marL="0">
              <a:buNone/>
            </a:pPr>
            <a:r>
              <a:rPr lang="en-US" sz="1100" dirty="0">
                <a:solidFill>
                  <a:srgbClr val="5A5A5A"/>
                </a:solidFill>
                <a:latin typeface="Calibri" pitchFamily="34" charset="0"/>
                <a:ea typeface="Calibri" pitchFamily="34" charset="-122"/>
                <a:cs typeface="Calibri" pitchFamily="34" charset="-120"/>
              </a:rPr>
              <a:t>Average daily room rate</a:t>
            </a:r>
            <a:endParaRPr lang="en-US" sz="1100" dirty="0"/>
          </a:p>
        </p:txBody>
      </p:sp>
      <p:sp>
        <p:nvSpPr>
          <p:cNvPr id="13" name="Shape 11"/>
          <p:cNvSpPr/>
          <p:nvPr/>
        </p:nvSpPr>
        <p:spPr>
          <a:xfrm>
            <a:off x="9116568" y="2011680"/>
            <a:ext cx="2651760" cy="2286000"/>
          </a:xfrm>
          <a:prstGeom prst="roundRect">
            <a:avLst>
              <a:gd name="adj" fmla="val 4800"/>
            </a:avLst>
          </a:prstGeom>
          <a:solidFill>
            <a:srgbClr val="F4F6FB"/>
          </a:solidFill>
          <a:ln w="12700">
            <a:solidFill>
              <a:srgbClr val="C7D2E8"/>
            </a:solidFill>
            <a:prstDash val="solid"/>
          </a:ln>
        </p:spPr>
      </p:sp>
      <p:sp>
        <p:nvSpPr>
          <p:cNvPr id="14" name="Text 12"/>
          <p:cNvSpPr txBox="1"/>
          <p:nvPr/>
        </p:nvSpPr>
        <p:spPr>
          <a:xfrm>
            <a:off x="9253728" y="2331720"/>
            <a:ext cx="2377440" cy="640080"/>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Average Lead Time</a:t>
            </a:r>
            <a:endParaRPr lang="en-US" sz="1500" dirty="0"/>
          </a:p>
        </p:txBody>
      </p:sp>
      <p:sp>
        <p:nvSpPr>
          <p:cNvPr id="15" name="Text 13"/>
          <p:cNvSpPr txBox="1"/>
          <p:nvPr/>
        </p:nvSpPr>
        <p:spPr>
          <a:xfrm>
            <a:off x="9299448" y="3200400"/>
            <a:ext cx="2286000" cy="822960"/>
          </a:xfrm>
          <a:prstGeom prst="rect">
            <a:avLst/>
          </a:prstGeom>
          <a:noFill/>
          <a:ln/>
        </p:spPr>
        <p:txBody>
          <a:bodyPr wrap="square" lIns="0" tIns="0" rIns="0" bIns="0" rtlCol="0" anchor="t"/>
          <a:lstStyle/>
          <a:p>
            <a:pPr algn="ctr" indent="0" marL="0">
              <a:buNone/>
            </a:pPr>
            <a:r>
              <a:rPr lang="en-US" sz="1100" dirty="0">
                <a:solidFill>
                  <a:srgbClr val="5A5A5A"/>
                </a:solidFill>
                <a:latin typeface="Calibri" pitchFamily="34" charset="0"/>
                <a:ea typeface="Calibri" pitchFamily="34" charset="-122"/>
                <a:cs typeface="Calibri" pitchFamily="34" charset="-120"/>
              </a:rPr>
              <a:t>Average days between booking and arrival</a:t>
            </a:r>
            <a:endParaRPr lang="en-US" sz="1100" dirty="0"/>
          </a:p>
        </p:txBody>
      </p:sp>
      <p:sp>
        <p:nvSpPr>
          <p:cNvPr id="16" name="Text 14"/>
          <p:cNvSpPr txBox="1"/>
          <p:nvPr/>
        </p:nvSpPr>
        <p:spPr>
          <a:xfrm>
            <a:off x="548640" y="4663440"/>
            <a:ext cx="11064240" cy="457200"/>
          </a:xfrm>
          <a:prstGeom prst="rect">
            <a:avLst/>
          </a:prstGeom>
          <a:noFill/>
          <a:ln/>
        </p:spPr>
        <p:txBody>
          <a:bodyPr wrap="square" lIns="0" tIns="0" rIns="0" bIns="0" rtlCol="0" anchor="ctr"/>
          <a:lstStyle/>
          <a:p>
            <a:pPr algn="ctr" indent="0" marL="0">
              <a:buNone/>
            </a:pPr>
            <a:r>
              <a:rPr lang="en-US" sz="1300" i="1" dirty="0">
                <a:solidFill>
                  <a:srgbClr val="5A5A5A"/>
                </a:solidFill>
                <a:latin typeface="Calibri" pitchFamily="34" charset="0"/>
                <a:ea typeface="Calibri" pitchFamily="34" charset="-122"/>
                <a:cs typeface="Calibri" pitchFamily="34" charset="-120"/>
              </a:rPr>
              <a:t>These KPIs give a quick summary of booking volume, cancellation behavior, pricing, and booking lead time.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2400" b="1" dirty="0">
                <a:solidFill>
                  <a:srgbClr val="1F3864"/>
                </a:solidFill>
                <a:latin typeface="Cambria" pitchFamily="34" charset="0"/>
                <a:ea typeface="Cambria" pitchFamily="34" charset="-122"/>
                <a:cs typeface="Cambria" pitchFamily="34" charset="-120"/>
              </a:rPr>
              <a:t>Power BI — Visualizations &amp; Business Questions</a:t>
            </a:r>
            <a:endParaRPr lang="en-US" sz="2400" dirty="0"/>
          </a:p>
        </p:txBody>
      </p:sp>
      <p:sp>
        <p:nvSpPr>
          <p:cNvPr id="3" name="Shape 1"/>
          <p:cNvSpPr/>
          <p:nvPr/>
        </p:nvSpPr>
        <p:spPr>
          <a:xfrm>
            <a:off x="548640" y="1234440"/>
            <a:ext cx="5394960" cy="5029200"/>
          </a:xfrm>
          <a:prstGeom prst="roundRect">
            <a:avLst>
              <a:gd name="adj" fmla="val 1818"/>
            </a:avLst>
          </a:prstGeom>
          <a:solidFill>
            <a:srgbClr val="F4F6FB"/>
          </a:solidFill>
          <a:ln/>
        </p:spPr>
      </p:sp>
      <p:sp>
        <p:nvSpPr>
          <p:cNvPr id="4" name="Text 2"/>
          <p:cNvSpPr txBox="1"/>
          <p:nvPr/>
        </p:nvSpPr>
        <p:spPr>
          <a:xfrm>
            <a:off x="731520" y="1417320"/>
            <a:ext cx="502920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Suggested Visualizations</a:t>
            </a:r>
            <a:endParaRPr lang="en-US" sz="1500" dirty="0"/>
          </a:p>
        </p:txBody>
      </p:sp>
      <p:sp>
        <p:nvSpPr>
          <p:cNvPr id="5" name="Text 3"/>
          <p:cNvSpPr txBox="1"/>
          <p:nvPr/>
        </p:nvSpPr>
        <p:spPr>
          <a:xfrm>
            <a:off x="731520" y="1874520"/>
            <a:ext cx="5029200" cy="420624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Column chart: bookings by hotel type</a:t>
            </a:r>
            <a:endParaRPr lang="en-US" sz="1200" dirty="0"/>
          </a:p>
          <a:p>
            <a:pPr marL="342900" indent="-342900">
              <a:lnSpc>
                <a:spcPct val="115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Donut or column chart: canceled vs. non-canceled bookings</a:t>
            </a:r>
            <a:endParaRPr lang="en-US" sz="1200" dirty="0"/>
          </a:p>
          <a:p>
            <a:pPr marL="342900" indent="-342900">
              <a:lnSpc>
                <a:spcPct val="115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Bar chart: bookings by market segment</a:t>
            </a:r>
            <a:endParaRPr lang="en-US" sz="1200" dirty="0"/>
          </a:p>
          <a:p>
            <a:pPr marL="342900" indent="-342900">
              <a:lnSpc>
                <a:spcPct val="115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Bar chart: bookings by customer type</a:t>
            </a:r>
            <a:endParaRPr lang="en-US" sz="1200" dirty="0"/>
          </a:p>
          <a:p>
            <a:pPr marL="342900" indent="-342900">
              <a:lnSpc>
                <a:spcPct val="115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Column/line chart: booking trends by arrival year</a:t>
            </a:r>
            <a:endParaRPr lang="en-US" sz="1200" dirty="0"/>
          </a:p>
          <a:p>
            <a:pPr marL="342900" indent="-342900">
              <a:lnSpc>
                <a:spcPct val="115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Slicers: hotel, arrival year, market segment, customer type</a:t>
            </a:r>
            <a:endParaRPr lang="en-US" sz="1200" dirty="0"/>
          </a:p>
        </p:txBody>
      </p:sp>
      <p:sp>
        <p:nvSpPr>
          <p:cNvPr id="6" name="Shape 4"/>
          <p:cNvSpPr/>
          <p:nvPr/>
        </p:nvSpPr>
        <p:spPr>
          <a:xfrm>
            <a:off x="6217920" y="1234440"/>
            <a:ext cx="5394960" cy="5029200"/>
          </a:xfrm>
          <a:prstGeom prst="roundRect">
            <a:avLst>
              <a:gd name="adj" fmla="val 1818"/>
            </a:avLst>
          </a:prstGeom>
          <a:solidFill>
            <a:srgbClr val="F4F6FB"/>
          </a:solidFill>
          <a:ln/>
        </p:spPr>
      </p:sp>
      <p:sp>
        <p:nvSpPr>
          <p:cNvPr id="7" name="Text 5"/>
          <p:cNvSpPr txBox="1"/>
          <p:nvPr/>
        </p:nvSpPr>
        <p:spPr>
          <a:xfrm>
            <a:off x="6400800" y="1417320"/>
            <a:ext cx="5029200" cy="3657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Business Questions</a:t>
            </a:r>
            <a:endParaRPr lang="en-US" sz="1500" dirty="0"/>
          </a:p>
        </p:txBody>
      </p:sp>
      <p:sp>
        <p:nvSpPr>
          <p:cNvPr id="8" name="Text 6"/>
          <p:cNvSpPr txBox="1"/>
          <p:nvPr/>
        </p:nvSpPr>
        <p:spPr>
          <a:xfrm>
            <a:off x="6400800" y="1874520"/>
            <a:ext cx="5029200" cy="4206240"/>
          </a:xfrm>
          <a:prstGeom prst="rect">
            <a:avLst/>
          </a:prstGeom>
          <a:noFill/>
          <a:ln/>
        </p:spPr>
        <p:txBody>
          <a:bodyPr wrap="square" lIns="0" tIns="0" rIns="0" bIns="0" rtlCol="0" anchor="t"/>
          <a:lstStyle/>
          <a:p>
            <a:pPr marL="342900" indent="-342900">
              <a:lnSpc>
                <a:spcPct val="112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How many bookings are in the cleaned dataset?</a:t>
            </a:r>
            <a:endParaRPr lang="en-US" sz="1150" dirty="0"/>
          </a:p>
          <a:p>
            <a:pPr marL="342900" indent="-342900">
              <a:lnSpc>
                <a:spcPct val="112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What proportion of bookings were canceled?</a:t>
            </a:r>
            <a:endParaRPr lang="en-US" sz="1150" dirty="0"/>
          </a:p>
          <a:p>
            <a:pPr marL="342900" indent="-342900">
              <a:lnSpc>
                <a:spcPct val="112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Which hotel type receives more bookings?</a:t>
            </a:r>
            <a:endParaRPr lang="en-US" sz="1150" dirty="0"/>
          </a:p>
          <a:p>
            <a:pPr marL="342900" indent="-342900">
              <a:lnSpc>
                <a:spcPct val="112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Which market segments generate the most bookings?</a:t>
            </a:r>
            <a:endParaRPr lang="en-US" sz="1150" dirty="0"/>
          </a:p>
          <a:p>
            <a:pPr marL="342900" indent="-342900">
              <a:lnSpc>
                <a:spcPct val="112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How long in advance do customers usually book?</a:t>
            </a:r>
            <a:endParaRPr lang="en-US" sz="1150" dirty="0"/>
          </a:p>
          <a:p>
            <a:pPr marL="342900" indent="-342900">
              <a:lnSpc>
                <a:spcPct val="112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How does ADR differ across hotel types?</a:t>
            </a:r>
            <a:endParaRPr lang="en-US" sz="1150" dirty="0"/>
          </a:p>
          <a:p>
            <a:pPr marL="342900" indent="-342900">
              <a:lnSpc>
                <a:spcPct val="112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Which customer groups appear most frequently?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2026-09-20T12:36:50Z</dcterms:created>
  <dcterms:modified xsi:type="dcterms:W3CDTF">2026-09-20T12:36:50Z</dcterms:modified>
</cp:coreProperties>
</file>